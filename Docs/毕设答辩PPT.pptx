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60" r:id="rId5"/>
    <p:sldId id="261" r:id="rId6"/>
    <p:sldId id="262" r:id="rId7"/>
    <p:sldId id="267" r:id="rId8"/>
    <p:sldId id="263" r:id="rId9"/>
    <p:sldId id="258" r:id="rId10"/>
    <p:sldId id="268" r:id="rId12"/>
    <p:sldId id="259" r:id="rId13"/>
    <p:sldId id="266" r:id="rId14"/>
    <p:sldId id="265"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8"/>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image" Target="../media/image2.png"/><Relationship Id="rId2" Type="http://schemas.openxmlformats.org/officeDocument/2006/relationships/tags" Target="../tags/tag65.xml"/><Relationship Id="rId16" Type="http://schemas.openxmlformats.org/officeDocument/2006/relationships/slideLayout" Target="../slideLayouts/slideLayout2.xml"/><Relationship Id="rId15" Type="http://schemas.openxmlformats.org/officeDocument/2006/relationships/tags" Target="../tags/tag76.xml"/><Relationship Id="rId14" Type="http://schemas.openxmlformats.org/officeDocument/2006/relationships/image" Target="../media/image1.png"/><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78.xml"/><Relationship Id="rId2" Type="http://schemas.openxmlformats.org/officeDocument/2006/relationships/image" Target="../media/image3.png"/><Relationship Id="rId1" Type="http://schemas.openxmlformats.org/officeDocument/2006/relationships/tags" Target="../tags/tag7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0.xml"/><Relationship Id="rId2" Type="http://schemas.openxmlformats.org/officeDocument/2006/relationships/image" Target="../media/image4.png"/><Relationship Id="rId1" Type="http://schemas.openxmlformats.org/officeDocument/2006/relationships/tags" Target="../tags/tag79.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3.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5.xml"/><Relationship Id="rId2" Type="http://schemas.openxmlformats.org/officeDocument/2006/relationships/image" Target="../media/image8.png"/><Relationship Id="rId1" Type="http://schemas.openxmlformats.org/officeDocument/2006/relationships/tags" Target="../tags/tag84.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87.xml"/><Relationship Id="rId2" Type="http://schemas.openxmlformats.org/officeDocument/2006/relationships/image" Target="../media/image9.png"/><Relationship Id="rId1" Type="http://schemas.openxmlformats.org/officeDocument/2006/relationships/tags" Target="../tags/tag86.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image" Target="../media/image11.png"/><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568" y="1"/>
            <a:ext cx="12198568" cy="475454"/>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568" y="5857335"/>
            <a:ext cx="12198568" cy="1000665"/>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7"/>
          <p:cNvSpPr/>
          <p:nvPr/>
        </p:nvSpPr>
        <p:spPr>
          <a:xfrm>
            <a:off x="2798619" y="5664951"/>
            <a:ext cx="6354618" cy="384768"/>
          </a:xfrm>
          <a:prstGeom prst="roundRect">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16" name="梯形 15"/>
          <p:cNvSpPr/>
          <p:nvPr/>
        </p:nvSpPr>
        <p:spPr>
          <a:xfrm flipV="1">
            <a:off x="1442049" y="345384"/>
            <a:ext cx="9307902" cy="273890"/>
          </a:xfrm>
          <a:prstGeom prst="trapezoid">
            <a:avLst>
              <a:gd name="adj" fmla="val 4429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21"/>
          <p:cNvSpPr txBox="1"/>
          <p:nvPr/>
        </p:nvSpPr>
        <p:spPr>
          <a:xfrm>
            <a:off x="372745" y="2856865"/>
            <a:ext cx="11447145" cy="829945"/>
          </a:xfrm>
          <a:prstGeom prst="rect">
            <a:avLst/>
          </a:prstGeom>
          <a:noFill/>
        </p:spPr>
        <p:txBody>
          <a:bodyPr wrap="square" rtlCol="0">
            <a:spAutoFit/>
          </a:bodyPr>
          <a:lstStyle/>
          <a:p>
            <a:pPr algn="ctr"/>
            <a:r>
              <a:rPr lang="zh-CN" altLang="en-US" sz="4800" b="1" spc="300" dirty="0">
                <a:solidFill>
                  <a:schemeClr val="tx1">
                    <a:lumMod val="85000"/>
                    <a:lumOff val="15000"/>
                  </a:schemeClr>
                </a:solidFill>
                <a:latin typeface="微软雅黑" panose="020B0503020204020204" charset="-122"/>
                <a:ea typeface="微软雅黑" panose="020B0503020204020204" charset="-122"/>
              </a:rPr>
              <a:t>基于单片机的人体健康监测系统设计</a:t>
            </a:r>
            <a:endParaRPr lang="zh-CN" altLang="en-US" sz="4800" b="1" spc="300" dirty="0">
              <a:solidFill>
                <a:schemeClr val="tx1">
                  <a:lumMod val="85000"/>
                  <a:lumOff val="15000"/>
                </a:schemeClr>
              </a:solidFill>
              <a:latin typeface="微软雅黑" panose="020B0503020204020204" charset="-122"/>
              <a:ea typeface="微软雅黑" panose="020B0503020204020204" charset="-122"/>
            </a:endParaRPr>
          </a:p>
        </p:txBody>
      </p:sp>
      <p:sp>
        <p:nvSpPr>
          <p:cNvPr id="18" name="文本框 21"/>
          <p:cNvSpPr txBox="1"/>
          <p:nvPr/>
        </p:nvSpPr>
        <p:spPr>
          <a:xfrm>
            <a:off x="3069590" y="5701665"/>
            <a:ext cx="6045835" cy="321945"/>
          </a:xfrm>
          <a:prstGeom prst="rect">
            <a:avLst/>
          </a:prstGeom>
          <a:noFill/>
        </p:spPr>
        <p:txBody>
          <a:bodyPr wrap="square" rtlCol="0">
            <a:spAutoFit/>
          </a:bodyPr>
          <a:lstStyle/>
          <a:p>
            <a:r>
              <a:rPr lang="zh-CN" altLang="en-US" sz="1500" spc="3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rPr>
              <a:t>汇报人：王家特   指导老师：艾娜    日期：</a:t>
            </a:r>
            <a:r>
              <a:rPr lang="en-US" altLang="zh-CN" sz="1500" spc="3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rPr>
              <a:t>2026.6.2</a:t>
            </a:r>
            <a:endParaRPr lang="en-US" altLang="zh-CN" sz="1500" spc="3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endParaRPr>
          </a:p>
        </p:txBody>
      </p:sp>
      <p:cxnSp>
        <p:nvCxnSpPr>
          <p:cNvPr id="19" name="直接连接符 18"/>
          <p:cNvCxnSpPr/>
          <p:nvPr/>
        </p:nvCxnSpPr>
        <p:spPr>
          <a:xfrm>
            <a:off x="1756780" y="3961791"/>
            <a:ext cx="8671871" cy="0"/>
          </a:xfrm>
          <a:prstGeom prst="line">
            <a:avLst/>
          </a:prstGeom>
          <a:ln w="12700">
            <a:solidFill>
              <a:srgbClr val="333E51"/>
            </a:solidFill>
          </a:ln>
        </p:spPr>
        <p:style>
          <a:lnRef idx="1">
            <a:schemeClr val="accent1"/>
          </a:lnRef>
          <a:fillRef idx="0">
            <a:schemeClr val="accent1"/>
          </a:fillRef>
          <a:effectRef idx="0">
            <a:schemeClr val="accent1"/>
          </a:effectRef>
          <a:fontRef idx="minor">
            <a:schemeClr val="tx1"/>
          </a:fontRef>
        </p:style>
      </p:cxnSp>
      <p:sp>
        <p:nvSpPr>
          <p:cNvPr id="20" name="KSO_Shape"/>
          <p:cNvSpPr>
            <a:spLocks noChangeArrowheads="1"/>
          </p:cNvSpPr>
          <p:nvPr/>
        </p:nvSpPr>
        <p:spPr bwMode="auto">
          <a:xfrm>
            <a:off x="5346612" y="1356308"/>
            <a:ext cx="1492206" cy="942900"/>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rgbClr val="3B4761"/>
          </a:solidFill>
          <a:ln>
            <a:noFill/>
          </a:ln>
        </p:spPr>
        <p:txBody>
          <a:bodyPr lIns="121917" tIns="60958" rIns="121917" bIns="60958"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21" name="文本框 21"/>
          <p:cNvSpPr txBox="1"/>
          <p:nvPr/>
        </p:nvSpPr>
        <p:spPr>
          <a:xfrm>
            <a:off x="4076219" y="4448819"/>
            <a:ext cx="4032993" cy="645160"/>
          </a:xfrm>
          <a:prstGeom prst="rect">
            <a:avLst/>
          </a:prstGeom>
          <a:noFill/>
        </p:spPr>
        <p:txBody>
          <a:bodyPr wrap="square" rtlCol="0">
            <a:spAutoFit/>
          </a:bodyPr>
          <a:lstStyle/>
          <a:p>
            <a:pPr algn="ctr"/>
            <a:r>
              <a:rPr lang="zh-CN" altLang="en-US" sz="3600" spc="300" dirty="0">
                <a:solidFill>
                  <a:schemeClr val="tx1">
                    <a:lumMod val="85000"/>
                    <a:lumOff val="15000"/>
                  </a:schemeClr>
                </a:solidFill>
                <a:latin typeface="微软雅黑" panose="020B0503020204020204" charset="-122"/>
                <a:ea typeface="微软雅黑" panose="020B0503020204020204" charset="-122"/>
                <a:cs typeface="OPPOSans R" panose="00020600040101010101" pitchFamily="18" charset="-122"/>
              </a:rPr>
              <a:t>毕设答辩</a:t>
            </a:r>
            <a:endParaRPr lang="zh-CN" altLang="en-US" sz="3600" spc="300" dirty="0">
              <a:solidFill>
                <a:schemeClr val="tx1">
                  <a:lumMod val="85000"/>
                  <a:lumOff val="15000"/>
                </a:schemeClr>
              </a:solidFill>
              <a:latin typeface="微软雅黑" panose="020B0503020204020204" charset="-122"/>
              <a:ea typeface="微软雅黑" panose="020B0503020204020204" charset="-122"/>
              <a:cs typeface="OPPOSans R" panose="00020600040101010101" pitchFamily="18" charset="-122"/>
            </a:endParaRPr>
          </a:p>
        </p:txBody>
      </p:sp>
      <p:pic>
        <p:nvPicPr>
          <p:cNvPr id="3" name="图片 2" descr="西大校徽"/>
          <p:cNvPicPr>
            <a:picLocks noChangeAspect="1"/>
          </p:cNvPicPr>
          <p:nvPr/>
        </p:nvPicPr>
        <p:blipFill>
          <a:blip r:embed="rId1"/>
          <a:stretch>
            <a:fillRect/>
          </a:stretch>
        </p:blipFill>
        <p:spPr>
          <a:xfrm>
            <a:off x="-248920" y="185420"/>
            <a:ext cx="3736340" cy="1426845"/>
          </a:xfrm>
          <a:prstGeom prst="rect">
            <a:avLst/>
          </a:prstGeom>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椭圆 3"/>
          <p:cNvSpPr/>
          <p:nvPr/>
        </p:nvSpPr>
        <p:spPr>
          <a:xfrm>
            <a:off x="1995207" y="2338992"/>
            <a:ext cx="2745235" cy="2745235"/>
          </a:xfrm>
          <a:prstGeom prst="ellipse">
            <a:avLst/>
          </a:prstGeom>
          <a:solidFill>
            <a:srgbClr val="3B47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5" name="矩形 4"/>
          <p:cNvSpPr/>
          <p:nvPr/>
        </p:nvSpPr>
        <p:spPr>
          <a:xfrm>
            <a:off x="-6568" y="1"/>
            <a:ext cx="12198568" cy="475454"/>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568" y="6181344"/>
            <a:ext cx="12198568" cy="676656"/>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8" name="TextBox 1"/>
          <p:cNvSpPr txBox="1"/>
          <p:nvPr/>
        </p:nvSpPr>
        <p:spPr>
          <a:xfrm>
            <a:off x="2523153" y="3076574"/>
            <a:ext cx="1671617" cy="861770"/>
          </a:xfrm>
          <a:prstGeom prst="rect">
            <a:avLst/>
          </a:prstGeom>
          <a:noFill/>
        </p:spPr>
        <p:txBody>
          <a:bodyPr vert="horz" wrap="square" lIns="121917" tIns="60958" rIns="121917" bIns="60958" rtlCol="0">
            <a:spAutoFit/>
          </a:bodyPr>
          <a:lstStyle/>
          <a:p>
            <a:pPr algn="ctr"/>
            <a:r>
              <a:rPr lang="zh-CN" altLang="en-US" sz="4800" dirty="0">
                <a:solidFill>
                  <a:schemeClr val="bg1"/>
                </a:solidFill>
                <a:latin typeface="OPPOSans B" panose="00020600040101010101" pitchFamily="18" charset="-122"/>
                <a:ea typeface="OPPOSans B" panose="00020600040101010101" pitchFamily="18" charset="-122"/>
                <a:cs typeface="OPPOSans B" panose="00020600040101010101" pitchFamily="18" charset="-122"/>
              </a:rPr>
              <a:t>目 录</a:t>
            </a:r>
            <a:endParaRPr lang="en-US" altLang="zh-CN" sz="4800"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9" name="TextBox 2"/>
          <p:cNvSpPr txBox="1"/>
          <p:nvPr/>
        </p:nvSpPr>
        <p:spPr>
          <a:xfrm>
            <a:off x="2301493" y="4534203"/>
            <a:ext cx="2114936" cy="369328"/>
          </a:xfrm>
          <a:prstGeom prst="rect">
            <a:avLst/>
          </a:prstGeom>
          <a:noFill/>
        </p:spPr>
        <p:txBody>
          <a:bodyPr vert="horz" wrap="square" lIns="121917" tIns="60958" rIns="121917" bIns="60958" rtlCol="0">
            <a:spAutoFit/>
          </a:bodyPr>
          <a:lstStyle/>
          <a:p>
            <a:pPr algn="ctr"/>
            <a:r>
              <a:rPr lang="en-US" altLang="zh-CN" sz="1600" spc="267" dirty="0">
                <a:solidFill>
                  <a:schemeClr val="bg1"/>
                </a:solidFill>
                <a:latin typeface="OPPOSans B" panose="00020600040101010101" pitchFamily="18" charset="-122"/>
                <a:ea typeface="OPPOSans B" panose="00020600040101010101" pitchFamily="18" charset="-122"/>
                <a:cs typeface="OPPOSans B" panose="00020600040101010101" pitchFamily="18" charset="-122"/>
              </a:rPr>
              <a:t>CONTENTS</a:t>
            </a:r>
            <a:endParaRPr lang="en-US" altLang="zh-CN" sz="1600" spc="267"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10" name="圆角矩形 2"/>
          <p:cNvSpPr/>
          <p:nvPr>
            <p:custDataLst>
              <p:tags r:id="rId1"/>
            </p:custDataLst>
          </p:nvPr>
        </p:nvSpPr>
        <p:spPr>
          <a:xfrm>
            <a:off x="6254958" y="2057509"/>
            <a:ext cx="618268" cy="618268"/>
          </a:xfrm>
          <a:prstGeom prst="round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11" name="文本框 10"/>
          <p:cNvSpPr txBox="1"/>
          <p:nvPr>
            <p:custDataLst>
              <p:tags r:id="rId2"/>
            </p:custDataLst>
          </p:nvPr>
        </p:nvSpPr>
        <p:spPr>
          <a:xfrm>
            <a:off x="6283333" y="2000292"/>
            <a:ext cx="1147759" cy="639214"/>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lnSpc>
                <a:spcPct val="150000"/>
              </a:lnSpc>
            </a:pPr>
            <a:r>
              <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rPr>
              <a:t>01</a:t>
            </a:r>
            <a:endPar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12" name="TextBox 6"/>
          <p:cNvSpPr txBox="1"/>
          <p:nvPr>
            <p:custDataLst>
              <p:tags r:id="rId4"/>
            </p:custDataLst>
          </p:nvPr>
        </p:nvSpPr>
        <p:spPr>
          <a:xfrm>
            <a:off x="7068185" y="2120900"/>
            <a:ext cx="3041015" cy="521970"/>
          </a:xfrm>
          <a:prstGeom prst="rect">
            <a:avLst/>
          </a:prstGeom>
          <a:noFill/>
        </p:spPr>
        <p:txBody>
          <a:bodyPr vert="horz" wrap="square" rtlCol="0">
            <a:spAutoFit/>
          </a:bodyPr>
          <a:lstStyle/>
          <a:p>
            <a:r>
              <a:rPr lang="zh-CN" altLang="en-US" sz="2800" spc="4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rPr>
              <a:t>研究背景与意义</a:t>
            </a:r>
            <a:endParaRPr lang="zh-CN" altLang="en-US" sz="2800" spc="4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endParaRPr>
          </a:p>
        </p:txBody>
      </p:sp>
      <p:sp>
        <p:nvSpPr>
          <p:cNvPr id="14" name="圆角矩形 38"/>
          <p:cNvSpPr/>
          <p:nvPr>
            <p:custDataLst>
              <p:tags r:id="rId5"/>
            </p:custDataLst>
          </p:nvPr>
        </p:nvSpPr>
        <p:spPr>
          <a:xfrm>
            <a:off x="6254958" y="3800887"/>
            <a:ext cx="618268" cy="618268"/>
          </a:xfrm>
          <a:prstGeom prst="round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15" name="文本框 14"/>
          <p:cNvSpPr txBox="1"/>
          <p:nvPr>
            <p:custDataLst>
              <p:tags r:id="rId6"/>
            </p:custDataLst>
          </p:nvPr>
        </p:nvSpPr>
        <p:spPr>
          <a:xfrm>
            <a:off x="6262095" y="3730478"/>
            <a:ext cx="1147759" cy="639214"/>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lnSpc>
                <a:spcPct val="150000"/>
              </a:lnSpc>
            </a:pPr>
            <a:r>
              <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rPr>
              <a:t>03</a:t>
            </a:r>
            <a:endPar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16" name="TextBox 6"/>
          <p:cNvSpPr txBox="1"/>
          <p:nvPr>
            <p:custDataLst>
              <p:tags r:id="rId7"/>
            </p:custDataLst>
          </p:nvPr>
        </p:nvSpPr>
        <p:spPr>
          <a:xfrm>
            <a:off x="7091680" y="3895725"/>
            <a:ext cx="3692525" cy="521970"/>
          </a:xfrm>
          <a:prstGeom prst="rect">
            <a:avLst/>
          </a:prstGeom>
          <a:noFill/>
        </p:spPr>
        <p:txBody>
          <a:bodyPr vert="horz" wrap="square" rtlCol="0">
            <a:spAutoFit/>
          </a:bodyPr>
          <a:lstStyle/>
          <a:p>
            <a:r>
              <a:rPr lang="zh-CN" altLang="en-US" sz="2800" spc="400" dirty="0">
                <a:solidFill>
                  <a:schemeClr val="tx1">
                    <a:lumMod val="85000"/>
                    <a:lumOff val="15000"/>
                  </a:schemeClr>
                </a:solidFill>
                <a:latin typeface="微软雅黑" panose="020B0503020204020204" charset="-122"/>
                <a:ea typeface="微软雅黑" panose="020B0503020204020204" charset="-122"/>
              </a:rPr>
              <a:t>硬件与软件设计</a:t>
            </a:r>
            <a:endParaRPr lang="zh-CN" altLang="en-US" sz="2800" spc="400" dirty="0">
              <a:solidFill>
                <a:schemeClr val="tx1">
                  <a:lumMod val="85000"/>
                  <a:lumOff val="15000"/>
                </a:schemeClr>
              </a:solidFill>
              <a:latin typeface="微软雅黑" panose="020B0503020204020204" charset="-122"/>
              <a:ea typeface="微软雅黑" panose="020B0503020204020204" charset="-122"/>
            </a:endParaRPr>
          </a:p>
        </p:txBody>
      </p:sp>
      <p:sp>
        <p:nvSpPr>
          <p:cNvPr id="18" name="圆角矩形 41"/>
          <p:cNvSpPr/>
          <p:nvPr>
            <p:custDataLst>
              <p:tags r:id="rId8"/>
            </p:custDataLst>
          </p:nvPr>
        </p:nvSpPr>
        <p:spPr>
          <a:xfrm>
            <a:off x="6254958" y="2924884"/>
            <a:ext cx="618268" cy="618268"/>
          </a:xfrm>
          <a:prstGeom prst="round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19" name="文本框 18"/>
          <p:cNvSpPr txBox="1"/>
          <p:nvPr>
            <p:custDataLst>
              <p:tags r:id="rId9"/>
            </p:custDataLst>
          </p:nvPr>
        </p:nvSpPr>
        <p:spPr>
          <a:xfrm>
            <a:off x="6268691" y="2863103"/>
            <a:ext cx="1147759" cy="639214"/>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lnSpc>
                <a:spcPct val="150000"/>
              </a:lnSpc>
            </a:pPr>
            <a:r>
              <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rPr>
              <a:t>02</a:t>
            </a:r>
            <a:endPar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20" name="TextBox 6"/>
          <p:cNvSpPr txBox="1"/>
          <p:nvPr>
            <p:custDataLst>
              <p:tags r:id="rId10"/>
            </p:custDataLst>
          </p:nvPr>
        </p:nvSpPr>
        <p:spPr>
          <a:xfrm>
            <a:off x="7071995" y="2999740"/>
            <a:ext cx="3976370" cy="521970"/>
          </a:xfrm>
          <a:prstGeom prst="rect">
            <a:avLst/>
          </a:prstGeom>
          <a:noFill/>
        </p:spPr>
        <p:txBody>
          <a:bodyPr vert="horz" wrap="square" rtlCol="0">
            <a:spAutoFit/>
          </a:bodyPr>
          <a:lstStyle/>
          <a:p>
            <a:r>
              <a:rPr lang="zh-CN" altLang="en-US" sz="2800" spc="400" dirty="0">
                <a:solidFill>
                  <a:schemeClr val="tx1">
                    <a:lumMod val="85000"/>
                    <a:lumOff val="15000"/>
                  </a:schemeClr>
                </a:solidFill>
                <a:latin typeface="微软雅黑" panose="020B0503020204020204" charset="-122"/>
                <a:ea typeface="微软雅黑" panose="020B0503020204020204" charset="-122"/>
              </a:rPr>
              <a:t>系统总体架构</a:t>
            </a:r>
            <a:endParaRPr lang="zh-CN" altLang="en-US" sz="2800" spc="400" dirty="0">
              <a:solidFill>
                <a:schemeClr val="tx1">
                  <a:lumMod val="85000"/>
                  <a:lumOff val="15000"/>
                </a:schemeClr>
              </a:solidFill>
              <a:latin typeface="微软雅黑" panose="020B0503020204020204" charset="-122"/>
              <a:ea typeface="微软雅黑" panose="020B0503020204020204" charset="-122"/>
            </a:endParaRPr>
          </a:p>
        </p:txBody>
      </p:sp>
      <p:sp>
        <p:nvSpPr>
          <p:cNvPr id="22" name="圆角矩形 42"/>
          <p:cNvSpPr/>
          <p:nvPr>
            <p:custDataLst>
              <p:tags r:id="rId11"/>
            </p:custDataLst>
          </p:nvPr>
        </p:nvSpPr>
        <p:spPr>
          <a:xfrm>
            <a:off x="6254958" y="4710149"/>
            <a:ext cx="618268" cy="618268"/>
          </a:xfrm>
          <a:prstGeom prst="round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23" name="文本框 22"/>
          <p:cNvSpPr txBox="1"/>
          <p:nvPr>
            <p:custDataLst>
              <p:tags r:id="rId12"/>
            </p:custDataLst>
          </p:nvPr>
        </p:nvSpPr>
        <p:spPr>
          <a:xfrm>
            <a:off x="6259547" y="4621452"/>
            <a:ext cx="1147759" cy="639214"/>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lnSpc>
                <a:spcPct val="150000"/>
              </a:lnSpc>
            </a:pPr>
            <a:r>
              <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rPr>
              <a:t>04</a:t>
            </a:r>
            <a:endParaRPr lang="en-US" altLang="zh-CN" sz="2600" b="0" dirty="0">
              <a:solidFill>
                <a:schemeClr val="bg1"/>
              </a:soli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24" name="TextBox 6"/>
          <p:cNvSpPr txBox="1"/>
          <p:nvPr>
            <p:custDataLst>
              <p:tags r:id="rId13"/>
            </p:custDataLst>
          </p:nvPr>
        </p:nvSpPr>
        <p:spPr>
          <a:xfrm>
            <a:off x="7127240" y="4788535"/>
            <a:ext cx="4168140" cy="521970"/>
          </a:xfrm>
          <a:prstGeom prst="rect">
            <a:avLst/>
          </a:prstGeom>
          <a:noFill/>
        </p:spPr>
        <p:txBody>
          <a:bodyPr vert="horz" wrap="square" rtlCol="0">
            <a:spAutoFit/>
          </a:bodyPr>
          <a:lstStyle/>
          <a:p>
            <a:r>
              <a:rPr lang="zh-CN" altLang="en-US" sz="2800" spc="400" dirty="0">
                <a:solidFill>
                  <a:schemeClr val="tx1">
                    <a:lumMod val="85000"/>
                    <a:lumOff val="15000"/>
                  </a:schemeClr>
                </a:solidFill>
                <a:latin typeface="微软雅黑" panose="020B0503020204020204" charset="-122"/>
                <a:ea typeface="微软雅黑" panose="020B0503020204020204" charset="-122"/>
              </a:rPr>
              <a:t>测试，总结与展望</a:t>
            </a:r>
            <a:endParaRPr lang="en-US" altLang="zh-CN" sz="2800" spc="400" dirty="0">
              <a:solidFill>
                <a:schemeClr val="tx1">
                  <a:lumMod val="85000"/>
                  <a:lumOff val="15000"/>
                </a:schemeClr>
              </a:solidFill>
              <a:latin typeface="微软雅黑" panose="020B0503020204020204" charset="-122"/>
              <a:ea typeface="微软雅黑" panose="020B0503020204020204" charset="-122"/>
            </a:endParaRPr>
          </a:p>
        </p:txBody>
      </p:sp>
      <p:pic>
        <p:nvPicPr>
          <p:cNvPr id="3" name="图片 2" descr="西大校徽"/>
          <p:cNvPicPr>
            <a:picLocks noChangeAspect="1"/>
          </p:cNvPicPr>
          <p:nvPr/>
        </p:nvPicPr>
        <p:blipFill>
          <a:blip r:embed="rId14"/>
          <a:stretch>
            <a:fillRect/>
          </a:stretch>
        </p:blipFill>
        <p:spPr>
          <a:xfrm>
            <a:off x="-248920" y="185420"/>
            <a:ext cx="3736340" cy="1426845"/>
          </a:xfrm>
          <a:prstGeom prst="rect">
            <a:avLst/>
          </a:prstGeom>
        </p:spPr>
      </p:pic>
    </p:spTree>
    <p:custDataLst>
      <p:tags r:id="rId1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5" name="TextBox 6"/>
          <p:cNvSpPr txBox="1"/>
          <p:nvPr/>
        </p:nvSpPr>
        <p:spPr>
          <a:xfrm>
            <a:off x="450753" y="663036"/>
            <a:ext cx="3122573" cy="460375"/>
          </a:xfrm>
          <a:prstGeom prst="rect">
            <a:avLst/>
          </a:prstGeom>
          <a:noFill/>
        </p:spPr>
        <p:txBody>
          <a:bodyPr vert="horz" wrap="square" rtlCol="0">
            <a:spAutoFit/>
          </a:bodyPr>
          <a:lstStyle/>
          <a:p>
            <a:r>
              <a:rPr lang="zh-CN" altLang="en-US" sz="2400" spc="4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sym typeface="+mn-ea"/>
              </a:rPr>
              <a:t>研究背景与意义</a:t>
            </a:r>
            <a:endParaRPr lang="zh-CN" altLang="en-US" sz="2400" spc="400" dirty="0">
              <a:solidFill>
                <a:srgbClr val="3B4761"/>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 name="等腰三角形 5"/>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19" name="矩形 18"/>
          <p:cNvSpPr/>
          <p:nvPr>
            <p:custDataLst>
              <p:tags r:id="rId1"/>
            </p:custDataLst>
          </p:nvPr>
        </p:nvSpPr>
        <p:spPr>
          <a:xfrm>
            <a:off x="450850" y="1420495"/>
            <a:ext cx="5077460" cy="4519930"/>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受众：独居人群</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痛点：突发疾病或意外跌倒难以及时发现。</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目标：研发一款低延迟、高精度、可视化的便携监测设备。</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nvPicPr>
        <p:blipFill>
          <a:blip r:embed="rId2"/>
          <a:stretch>
            <a:fillRect/>
          </a:stretch>
        </p:blipFill>
        <p:spPr>
          <a:xfrm>
            <a:off x="6329680" y="1420495"/>
            <a:ext cx="5193030" cy="4519930"/>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753" y="663036"/>
            <a:ext cx="3122573" cy="460375"/>
          </a:xfrm>
          <a:prstGeom prst="rect">
            <a:avLst/>
          </a:prstGeom>
          <a:noFill/>
        </p:spPr>
        <p:txBody>
          <a:bodyPr vert="horz" wrap="square" rtlCol="0">
            <a:spAutoFit/>
          </a:bodyPr>
          <a:lstStyle/>
          <a:p>
            <a:r>
              <a:rPr lang="zh-CN" altLang="en-US" sz="2400" spc="4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sym typeface="+mn-ea"/>
              </a:rPr>
              <a:t>系统总体架构</a:t>
            </a:r>
            <a:endParaRPr lang="zh-CN" altLang="en-US" sz="2400" spc="400" dirty="0">
              <a:solidFill>
                <a:srgbClr val="3B4761"/>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11" name="矩形 10"/>
          <p:cNvSpPr/>
          <p:nvPr>
            <p:custDataLst>
              <p:tags r:id="rId1"/>
            </p:custDataLst>
          </p:nvPr>
        </p:nvSpPr>
        <p:spPr>
          <a:xfrm>
            <a:off x="152400" y="1363345"/>
            <a:ext cx="3964940" cy="4577080"/>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核心主控：</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STM32</a:t>
            </a:r>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感知端传感器：</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MAX30102(</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心率血氧</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MPU6050(</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姿态</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DS18B20(</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体温</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通信与终端：</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ESP8266 WiFi</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中模块，</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OLED</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屏幕，</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PC</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网页大屏</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4" descr="diagram-flowchart (4)"/>
          <p:cNvPicPr>
            <a:picLocks noChangeAspect="1"/>
          </p:cNvPicPr>
          <p:nvPr/>
        </p:nvPicPr>
        <p:blipFill>
          <a:blip r:embed="rId2"/>
          <a:stretch>
            <a:fillRect/>
          </a:stretch>
        </p:blipFill>
        <p:spPr>
          <a:xfrm>
            <a:off x="4587875" y="1215390"/>
            <a:ext cx="6847840" cy="4046220"/>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850" y="662940"/>
            <a:ext cx="3711575" cy="460375"/>
          </a:xfrm>
          <a:prstGeom prst="rect">
            <a:avLst/>
          </a:prstGeom>
          <a:noFill/>
        </p:spPr>
        <p:txBody>
          <a:bodyPr vert="horz" wrap="square" rtlCol="0">
            <a:spAutoFit/>
          </a:bodyPr>
          <a:lstStyle/>
          <a:p>
            <a:r>
              <a:rPr lang="zh-CN" altLang="en-US" sz="2400" spc="4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sym typeface="+mn-ea"/>
              </a:rPr>
              <a:t>硬件设计</a:t>
            </a:r>
            <a:endParaRPr lang="zh-CN" altLang="en-US" sz="2400" spc="400" dirty="0">
              <a:solidFill>
                <a:srgbClr val="3B4761"/>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4" name="文本框 3"/>
          <p:cNvSpPr txBox="1"/>
          <p:nvPr/>
        </p:nvSpPr>
        <p:spPr>
          <a:xfrm>
            <a:off x="6879590" y="5731510"/>
            <a:ext cx="4064000" cy="368300"/>
          </a:xfrm>
          <a:prstGeom prst="rect">
            <a:avLst/>
          </a:prstGeom>
          <a:noFill/>
        </p:spPr>
        <p:txBody>
          <a:bodyPr wrap="square" rtlCol="0">
            <a:spAutoFit/>
          </a:bodyPr>
          <a:p>
            <a:pPr algn="ctr"/>
            <a:r>
              <a:rPr lang="zh-CN" altLang="en-US"/>
              <a:t>系统总体连线原理图</a:t>
            </a:r>
            <a:endParaRPr lang="zh-CN" altLang="en-US"/>
          </a:p>
        </p:txBody>
      </p:sp>
      <p:pic>
        <p:nvPicPr>
          <p:cNvPr id="6" name="图片 5"/>
          <p:cNvPicPr/>
          <p:nvPr/>
        </p:nvPicPr>
        <p:blipFill>
          <a:blip r:embed="rId1"/>
          <a:stretch>
            <a:fillRect/>
          </a:stretch>
        </p:blipFill>
        <p:spPr>
          <a:xfrm>
            <a:off x="5473700" y="808990"/>
            <a:ext cx="6309995" cy="4832350"/>
          </a:xfrm>
          <a:prstGeom prst="rect">
            <a:avLst/>
          </a:prstGeom>
        </p:spPr>
      </p:pic>
      <p:sp>
        <p:nvSpPr>
          <p:cNvPr id="11" name="矩形 10"/>
          <p:cNvSpPr/>
          <p:nvPr>
            <p:custDataLst>
              <p:tags r:id="rId2"/>
            </p:custDataLst>
          </p:nvPr>
        </p:nvSpPr>
        <p:spPr>
          <a:xfrm>
            <a:off x="323850" y="1167765"/>
            <a:ext cx="3964940" cy="4577080"/>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I2C</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通信协议：</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MPU6050</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MAX30102</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和</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OLED</a:t>
            </a:r>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硬件连线极简</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只需要两根信号线即可实现完整的全双工通信</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SCL</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：串行时钟线，由主控芯片统一提供时钟脉冲。</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SDA</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：串行数据线，用于主从机之间双向传输数据。</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850" y="662940"/>
            <a:ext cx="3711575" cy="460375"/>
          </a:xfrm>
          <a:prstGeom prst="rect">
            <a:avLst/>
          </a:prstGeom>
          <a:noFill/>
        </p:spPr>
        <p:txBody>
          <a:bodyPr vert="horz" wrap="square" rtlCol="0">
            <a:spAutoFit/>
          </a:bodyPr>
          <a:lstStyle/>
          <a:p>
            <a:r>
              <a:rPr lang="zh-CN" altLang="en-US" sz="2400" spc="4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sym typeface="+mn-ea"/>
              </a:rPr>
              <a:t>硬件设计</a:t>
            </a:r>
            <a:endParaRPr lang="zh-CN" altLang="en-US" sz="2400" spc="400" dirty="0">
              <a:solidFill>
                <a:srgbClr val="3B4761"/>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4" name="文本框 3"/>
          <p:cNvSpPr txBox="1"/>
          <p:nvPr/>
        </p:nvSpPr>
        <p:spPr>
          <a:xfrm>
            <a:off x="7162800" y="5787390"/>
            <a:ext cx="4064000" cy="368300"/>
          </a:xfrm>
          <a:prstGeom prst="rect">
            <a:avLst/>
          </a:prstGeom>
          <a:noFill/>
        </p:spPr>
        <p:txBody>
          <a:bodyPr wrap="square" rtlCol="0">
            <a:spAutoFit/>
          </a:bodyPr>
          <a:p>
            <a:pPr algn="ctr"/>
            <a:r>
              <a:rPr lang="en-US" altLang="zh-CN"/>
              <a:t>PCB</a:t>
            </a:r>
            <a:r>
              <a:rPr lang="zh-CN" altLang="en-US"/>
              <a:t>设计连接图</a:t>
            </a:r>
            <a:endParaRPr lang="zh-CN" altLang="en-US"/>
          </a:p>
        </p:txBody>
      </p:sp>
      <p:pic>
        <p:nvPicPr>
          <p:cNvPr id="12" name="图片 2" descr="IMG_256"/>
          <p:cNvPicPr>
            <a:picLocks noChangeAspect="1"/>
          </p:cNvPicPr>
          <p:nvPr/>
        </p:nvPicPr>
        <p:blipFill>
          <a:blip r:embed="rId1"/>
          <a:stretch>
            <a:fillRect/>
          </a:stretch>
        </p:blipFill>
        <p:spPr>
          <a:xfrm>
            <a:off x="6985000" y="1124585"/>
            <a:ext cx="4418965" cy="4415155"/>
          </a:xfrm>
          <a:prstGeom prst="rect">
            <a:avLst/>
          </a:prstGeom>
          <a:noFill/>
          <a:ln w="9525">
            <a:noFill/>
          </a:ln>
        </p:spPr>
      </p:pic>
      <p:pic>
        <p:nvPicPr>
          <p:cNvPr id="5" name="图片 4"/>
          <p:cNvPicPr>
            <a:picLocks noChangeAspect="1"/>
          </p:cNvPicPr>
          <p:nvPr/>
        </p:nvPicPr>
        <p:blipFill>
          <a:blip r:embed="rId2"/>
          <a:stretch>
            <a:fillRect/>
          </a:stretch>
        </p:blipFill>
        <p:spPr>
          <a:xfrm>
            <a:off x="76200" y="1402715"/>
            <a:ext cx="6440805" cy="3797300"/>
          </a:xfrm>
          <a:prstGeom prst="rect">
            <a:avLst/>
          </a:prstGeom>
        </p:spPr>
      </p:pic>
      <p:sp>
        <p:nvSpPr>
          <p:cNvPr id="7" name="文本框 6"/>
          <p:cNvSpPr txBox="1"/>
          <p:nvPr/>
        </p:nvSpPr>
        <p:spPr>
          <a:xfrm>
            <a:off x="1264285" y="5419090"/>
            <a:ext cx="4064000" cy="368300"/>
          </a:xfrm>
          <a:prstGeom prst="rect">
            <a:avLst/>
          </a:prstGeom>
          <a:noFill/>
        </p:spPr>
        <p:txBody>
          <a:bodyPr wrap="square" rtlCol="0">
            <a:spAutoFit/>
          </a:bodyPr>
          <a:p>
            <a:pPr algn="ctr"/>
            <a:r>
              <a:rPr lang="zh-CN" altLang="en-US"/>
              <a:t>系统端口连接汇总表</a:t>
            </a:r>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850" y="662940"/>
            <a:ext cx="5850890" cy="460375"/>
          </a:xfrm>
          <a:prstGeom prst="rect">
            <a:avLst/>
          </a:prstGeom>
          <a:noFill/>
        </p:spPr>
        <p:txBody>
          <a:bodyPr vert="horz" wrap="square" rtlCol="0">
            <a:spAutoFit/>
          </a:bodyPr>
          <a:lstStyle/>
          <a:p>
            <a:r>
              <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rPr>
              <a:t>软件核心一：非阻塞时间切片调度</a:t>
            </a:r>
            <a:endPar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11" name="矩形 10"/>
          <p:cNvSpPr/>
          <p:nvPr>
            <p:custDataLst>
              <p:tags r:id="rId1"/>
            </p:custDataLst>
          </p:nvPr>
        </p:nvSpPr>
        <p:spPr>
          <a:xfrm>
            <a:off x="145415" y="1363345"/>
            <a:ext cx="4314190" cy="4577080"/>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解决了</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Delay</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死循环导致总线锁死、数据的卡顿。</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重构了基于系统时钟总线的时间片轮转架构。</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并发频率：</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10ms</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：心率血氧信号采样</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20ms</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：姿态数据采集</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100ms</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：无线报文发送与</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OLED</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1000ms</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：体温读取</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2"/>
          <a:stretch>
            <a:fillRect/>
          </a:stretch>
        </p:blipFill>
        <p:spPr>
          <a:xfrm>
            <a:off x="4982845" y="1240155"/>
            <a:ext cx="6330315" cy="5010150"/>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850" y="662940"/>
            <a:ext cx="5264150" cy="460375"/>
          </a:xfrm>
          <a:prstGeom prst="rect">
            <a:avLst/>
          </a:prstGeom>
          <a:noFill/>
        </p:spPr>
        <p:txBody>
          <a:bodyPr vert="horz" wrap="square" rtlCol="0">
            <a:spAutoFit/>
          </a:bodyPr>
          <a:lstStyle/>
          <a:p>
            <a:r>
              <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rPr>
              <a:t>软件核心二：动态差分跌倒算法</a:t>
            </a:r>
            <a:endPar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11" name="矩形 10"/>
          <p:cNvSpPr/>
          <p:nvPr>
            <p:custDataLst>
              <p:tags r:id="rId1"/>
            </p:custDataLst>
          </p:nvPr>
        </p:nvSpPr>
        <p:spPr>
          <a:xfrm>
            <a:off x="180975" y="1363345"/>
            <a:ext cx="3485515" cy="4577080"/>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传统算法：静态阈值法（易受重力干扰，误报率高）。</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自研优化：动态差分变化率算法。</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核心模型：</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ΔS²=Δax</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²</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+Δay</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²</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+Δaz</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²</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a:t>
            </a:r>
            <a:endPar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优势：滤除静态重力，精准量化加速度变化值。</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2"/>
          <a:stretch>
            <a:fillRect/>
          </a:stretch>
        </p:blipFill>
        <p:spPr>
          <a:xfrm>
            <a:off x="3734435" y="1637030"/>
            <a:ext cx="8362950" cy="3558540"/>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矩形 10"/>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14" name="TextBox 6"/>
          <p:cNvSpPr txBox="1"/>
          <p:nvPr/>
        </p:nvSpPr>
        <p:spPr>
          <a:xfrm>
            <a:off x="450850" y="662940"/>
            <a:ext cx="5936615" cy="460375"/>
          </a:xfrm>
          <a:prstGeom prst="rect">
            <a:avLst/>
          </a:prstGeom>
          <a:noFill/>
        </p:spPr>
        <p:txBody>
          <a:bodyPr vert="horz" wrap="square" rtlCol="0">
            <a:spAutoFit/>
          </a:bodyPr>
          <a:lstStyle/>
          <a:p>
            <a:r>
              <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rPr>
              <a:t>设备测试</a:t>
            </a:r>
            <a:endPar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endParaRPr>
          </a:p>
        </p:txBody>
      </p:sp>
      <p:sp>
        <p:nvSpPr>
          <p:cNvPr id="15" name="等腰三角形 14"/>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pic>
        <p:nvPicPr>
          <p:cNvPr id="20" name="图片 1" descr="IMG_256"/>
          <p:cNvPicPr>
            <a:picLocks noChangeAspect="1"/>
          </p:cNvPicPr>
          <p:nvPr/>
        </p:nvPicPr>
        <p:blipFill>
          <a:blip r:embed="rId1"/>
          <a:stretch>
            <a:fillRect/>
          </a:stretch>
        </p:blipFill>
        <p:spPr>
          <a:xfrm>
            <a:off x="261620" y="1353820"/>
            <a:ext cx="4898390" cy="3676015"/>
          </a:xfrm>
          <a:prstGeom prst="rect">
            <a:avLst/>
          </a:prstGeom>
          <a:noFill/>
          <a:ln w="9525">
            <a:noFill/>
          </a:ln>
        </p:spPr>
      </p:pic>
      <p:sp>
        <p:nvSpPr>
          <p:cNvPr id="21" name="文本框 20"/>
          <p:cNvSpPr txBox="1"/>
          <p:nvPr/>
        </p:nvSpPr>
        <p:spPr>
          <a:xfrm>
            <a:off x="678815" y="5400040"/>
            <a:ext cx="4064000" cy="368300"/>
          </a:xfrm>
          <a:prstGeom prst="rect">
            <a:avLst/>
          </a:prstGeom>
          <a:noFill/>
        </p:spPr>
        <p:txBody>
          <a:bodyPr wrap="square" rtlCol="0">
            <a:spAutoFit/>
          </a:bodyPr>
          <a:p>
            <a:pPr algn="ctr"/>
            <a:r>
              <a:rPr lang="en-US" altLang="zh-CN"/>
              <a:t>OLED</a:t>
            </a:r>
            <a:r>
              <a:rPr lang="zh-CN" altLang="en-US"/>
              <a:t>与手环对比实测图</a:t>
            </a:r>
            <a:endParaRPr lang="zh-CN" altLang="en-US"/>
          </a:p>
        </p:txBody>
      </p:sp>
      <p:pic>
        <p:nvPicPr>
          <p:cNvPr id="22" name="图片 21"/>
          <p:cNvPicPr>
            <a:picLocks noChangeAspect="1"/>
          </p:cNvPicPr>
          <p:nvPr/>
        </p:nvPicPr>
        <p:blipFill>
          <a:blip r:embed="rId2"/>
          <a:stretch>
            <a:fillRect/>
          </a:stretch>
        </p:blipFill>
        <p:spPr>
          <a:xfrm>
            <a:off x="5307965" y="1353820"/>
            <a:ext cx="6718300" cy="3636010"/>
          </a:xfrm>
          <a:prstGeom prst="rect">
            <a:avLst/>
          </a:prstGeom>
        </p:spPr>
      </p:pic>
      <p:sp>
        <p:nvSpPr>
          <p:cNvPr id="23" name="文本框 22"/>
          <p:cNvSpPr txBox="1"/>
          <p:nvPr/>
        </p:nvSpPr>
        <p:spPr>
          <a:xfrm>
            <a:off x="5307965" y="5220970"/>
            <a:ext cx="6718935" cy="1352550"/>
          </a:xfrm>
          <a:prstGeom prst="rect">
            <a:avLst/>
          </a:prstGeom>
          <a:noFill/>
        </p:spPr>
        <p:txBody>
          <a:bodyPr wrap="square" rtlCol="0">
            <a:noAutofit/>
          </a:bodyPr>
          <a:p>
            <a:pPr algn="ctr"/>
            <a:r>
              <a:rPr lang="zh-CN" altLang="en-US"/>
              <a:t>心率偏差极值为</a:t>
            </a:r>
            <a:r>
              <a:rPr lang="en-US" altLang="zh-CN"/>
              <a:t>8.45%</a:t>
            </a:r>
            <a:endParaRPr lang="en-US" altLang="zh-CN"/>
          </a:p>
          <a:p>
            <a:pPr algn="ctr"/>
            <a:r>
              <a:rPr lang="zh-CN" altLang="en-US"/>
              <a:t>血氧偏差极值为</a:t>
            </a:r>
            <a:r>
              <a:rPr lang="en-US" altLang="zh-CN"/>
              <a:t>3.13%</a:t>
            </a:r>
            <a:endParaRPr lang="en-US" altLang="zh-CN"/>
          </a:p>
          <a:p>
            <a:pPr algn="ctr"/>
            <a:r>
              <a:rPr lang="zh-CN" altLang="en-US"/>
              <a:t>整体错漏幅度处于可接受的工程区间</a:t>
            </a:r>
            <a:endParaRPr lang="zh-CN"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850" y="662940"/>
            <a:ext cx="5936615" cy="460375"/>
          </a:xfrm>
          <a:prstGeom prst="rect">
            <a:avLst/>
          </a:prstGeom>
          <a:noFill/>
        </p:spPr>
        <p:txBody>
          <a:bodyPr vert="horz" wrap="square" rtlCol="0">
            <a:spAutoFit/>
          </a:bodyPr>
          <a:lstStyle/>
          <a:p>
            <a:r>
              <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rPr>
              <a:t>设备测试</a:t>
            </a:r>
            <a:endPar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pic>
        <p:nvPicPr>
          <p:cNvPr id="2" name="图片 1"/>
          <p:cNvPicPr>
            <a:picLocks noChangeAspect="1"/>
          </p:cNvPicPr>
          <p:nvPr/>
        </p:nvPicPr>
        <p:blipFill>
          <a:blip r:embed="rId1"/>
          <a:stretch>
            <a:fillRect/>
          </a:stretch>
        </p:blipFill>
        <p:spPr>
          <a:xfrm>
            <a:off x="0" y="2172335"/>
            <a:ext cx="6075680" cy="3353435"/>
          </a:xfrm>
          <a:prstGeom prst="rect">
            <a:avLst/>
          </a:prstGeom>
        </p:spPr>
      </p:pic>
      <p:pic>
        <p:nvPicPr>
          <p:cNvPr id="6" name="图片 5"/>
          <p:cNvPicPr>
            <a:picLocks noChangeAspect="1"/>
          </p:cNvPicPr>
          <p:nvPr/>
        </p:nvPicPr>
        <p:blipFill>
          <a:blip r:embed="rId2"/>
          <a:stretch>
            <a:fillRect/>
          </a:stretch>
        </p:blipFill>
        <p:spPr>
          <a:xfrm>
            <a:off x="6076315" y="2174240"/>
            <a:ext cx="5930265" cy="3349625"/>
          </a:xfrm>
          <a:prstGeom prst="rect">
            <a:avLst/>
          </a:prstGeom>
        </p:spPr>
      </p:pic>
      <p:sp>
        <p:nvSpPr>
          <p:cNvPr id="7" name="文本框 6"/>
          <p:cNvSpPr txBox="1"/>
          <p:nvPr/>
        </p:nvSpPr>
        <p:spPr>
          <a:xfrm>
            <a:off x="991235" y="5718810"/>
            <a:ext cx="4064000" cy="368300"/>
          </a:xfrm>
          <a:prstGeom prst="rect">
            <a:avLst/>
          </a:prstGeom>
          <a:noFill/>
        </p:spPr>
        <p:txBody>
          <a:bodyPr wrap="square" rtlCol="0">
            <a:spAutoFit/>
          </a:bodyPr>
          <a:p>
            <a:pPr algn="ctr"/>
            <a:r>
              <a:rPr lang="zh-CN" altLang="en-US"/>
              <a:t>正常行走状态</a:t>
            </a:r>
            <a:endParaRPr lang="zh-CN" altLang="en-US"/>
          </a:p>
        </p:txBody>
      </p:sp>
      <p:sp>
        <p:nvSpPr>
          <p:cNvPr id="12" name="文本框 11"/>
          <p:cNvSpPr txBox="1"/>
          <p:nvPr/>
        </p:nvSpPr>
        <p:spPr>
          <a:xfrm>
            <a:off x="7054850" y="5659755"/>
            <a:ext cx="4064000" cy="368300"/>
          </a:xfrm>
          <a:prstGeom prst="rect">
            <a:avLst/>
          </a:prstGeom>
          <a:noFill/>
        </p:spPr>
        <p:txBody>
          <a:bodyPr wrap="square" rtlCol="0">
            <a:spAutoFit/>
          </a:bodyPr>
          <a:p>
            <a:pPr algn="ctr"/>
            <a:r>
              <a:rPr lang="zh-CN" altLang="en-US"/>
              <a:t>加速度突变识别为跌倒状态</a:t>
            </a:r>
            <a:endParaRPr lang="zh-CN" altLang="en-US"/>
          </a:p>
        </p:txBody>
      </p:sp>
      <p:pic>
        <p:nvPicPr>
          <p:cNvPr id="3" name="图片 2"/>
          <p:cNvPicPr>
            <a:picLocks noChangeAspect="1"/>
          </p:cNvPicPr>
          <p:nvPr/>
        </p:nvPicPr>
        <p:blipFill>
          <a:blip r:embed="rId3"/>
          <a:stretch>
            <a:fillRect/>
          </a:stretch>
        </p:blipFill>
        <p:spPr>
          <a:xfrm>
            <a:off x="2229485" y="429260"/>
            <a:ext cx="7726680" cy="157353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6568" y="1"/>
            <a:ext cx="12198568" cy="258791"/>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68" y="6573328"/>
            <a:ext cx="12198568" cy="284672"/>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9" name="TextBox 6"/>
          <p:cNvSpPr txBox="1"/>
          <p:nvPr/>
        </p:nvSpPr>
        <p:spPr>
          <a:xfrm>
            <a:off x="450850" y="662940"/>
            <a:ext cx="5936615" cy="460375"/>
          </a:xfrm>
          <a:prstGeom prst="rect">
            <a:avLst/>
          </a:prstGeom>
          <a:noFill/>
        </p:spPr>
        <p:txBody>
          <a:bodyPr vert="horz" wrap="square" rtlCol="0">
            <a:spAutoFit/>
          </a:bodyPr>
          <a:lstStyle/>
          <a:p>
            <a:r>
              <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rPr>
              <a:t>总结与展望</a:t>
            </a:r>
            <a:endParaRPr lang="zh-CN" altLang="en-US" sz="2400" spc="400" dirty="0">
              <a:solidFill>
                <a:srgbClr val="3B4761"/>
              </a:solidFill>
              <a:latin typeface="微软雅黑" panose="020B0503020204020204" charset="-122"/>
              <a:ea typeface="微软雅黑" panose="020B0503020204020204" charset="-122"/>
              <a:cs typeface="OPPOSans R" panose="00020600040101010101" pitchFamily="18" charset="-122"/>
            </a:endParaRPr>
          </a:p>
        </p:txBody>
      </p:sp>
      <p:sp>
        <p:nvSpPr>
          <p:cNvPr id="10" name="等腰三角形 9"/>
          <p:cNvSpPr/>
          <p:nvPr/>
        </p:nvSpPr>
        <p:spPr>
          <a:xfrm rot="5400000">
            <a:off x="-85193" y="683915"/>
            <a:ext cx="525979" cy="355592"/>
          </a:xfrm>
          <a:prstGeom prst="triangle">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endParaRPr>
          </a:p>
        </p:txBody>
      </p:sp>
      <p:sp>
        <p:nvSpPr>
          <p:cNvPr id="11" name="矩形 10"/>
          <p:cNvSpPr/>
          <p:nvPr>
            <p:custDataLst>
              <p:tags r:id="rId1"/>
            </p:custDataLst>
          </p:nvPr>
        </p:nvSpPr>
        <p:spPr>
          <a:xfrm>
            <a:off x="450850" y="1309370"/>
            <a:ext cx="11038205" cy="2120265"/>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工作成果总结：</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本文成功设计了基于</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STM32</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的便携式体征与姿态无线监测设备。</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1.</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硬件层面自主规划并焊接双层</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PCB</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电路板，集成了测温、心率血氧及姿态检测模块，依托</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ESP8266</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与</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WebSocket</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技术建立了低延迟的局域网透传；</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2.</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软件层面搭建非阻塞时间片调度框架消除了总线死锁缺点，设计</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动态加速度差分变化率算法</a:t>
            </a:r>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，剔除了静态重力干扰，提升了跌倒碰撞检测灵敏度，联合实测整机功能完整、预警及时响应。</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 name="矩形 12"/>
          <p:cNvSpPr/>
          <p:nvPr>
            <p:custDataLst>
              <p:tags r:id="rId2"/>
            </p:custDataLst>
          </p:nvPr>
        </p:nvSpPr>
        <p:spPr>
          <a:xfrm>
            <a:off x="450850" y="3729355"/>
            <a:ext cx="11038840" cy="2630170"/>
          </a:xfrm>
          <a:prstGeom prst="rect">
            <a:avLst/>
          </a:prstGeom>
          <a:solidFill>
            <a:srgbClr val="5D6E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不足与改进展望：</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1.</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供电便携度准备通过集成聚合物锂电池及底层芯片低功耗休眠策略进行完善，与高密度布线进一步压缩主板尺寸。</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2.</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动作识别算法准备引入卡尔曼滤波算法深层融合陀螺仪角速度参数，精准解算三维绝对姿态角以构筑多维参数联合校验的防摔网络。</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lvl="1" algn="l"/>
            <a:r>
              <a:rPr lang="en-US" altLang="zh-CN" dirty="0">
                <a:solidFill>
                  <a:schemeClr val="bg1"/>
                </a:solidFill>
                <a:latin typeface="微软雅黑" panose="020B0503020204020204" charset="-122"/>
                <a:ea typeface="微软雅黑" panose="020B0503020204020204" charset="-122"/>
                <a:cs typeface="微软雅黑" panose="020B0503020204020204" charset="-122"/>
                <a:sym typeface="+mn-ea"/>
              </a:rPr>
              <a:t>  3.</a:t>
            </a:r>
            <a:r>
              <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rPr>
              <a:t>通讯架构未来全面升级为物联网通用标准，依托云服务器打破局域网物理壁垒，最终缔造全域广域网智慧看护闭环。</a:t>
            </a: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nvSpPr>
        <p:spPr>
          <a:xfrm>
            <a:off x="-6568" y="1"/>
            <a:ext cx="12198568" cy="475454"/>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568" y="5857335"/>
            <a:ext cx="12198568" cy="1000665"/>
          </a:xfrm>
          <a:prstGeom prst="rect">
            <a:avLst/>
          </a:pr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7"/>
          <p:cNvSpPr/>
          <p:nvPr/>
        </p:nvSpPr>
        <p:spPr>
          <a:xfrm>
            <a:off x="2798619" y="5664951"/>
            <a:ext cx="6354618" cy="384768"/>
          </a:xfrm>
          <a:prstGeom prst="roundRect">
            <a:avLst>
              <a:gd name="adj" fmla="val 5000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B" panose="00020600040101010101" pitchFamily="18" charset="-122"/>
              <a:ea typeface="OPPOSans B" panose="00020600040101010101" pitchFamily="18" charset="-122"/>
              <a:cs typeface="OPPOSans B" panose="00020600040101010101" pitchFamily="18" charset="-122"/>
            </a:endParaRPr>
          </a:p>
        </p:txBody>
      </p:sp>
      <p:sp>
        <p:nvSpPr>
          <p:cNvPr id="16" name="梯形 15"/>
          <p:cNvSpPr/>
          <p:nvPr/>
        </p:nvSpPr>
        <p:spPr>
          <a:xfrm flipV="1">
            <a:off x="1442049" y="345384"/>
            <a:ext cx="9307902" cy="273890"/>
          </a:xfrm>
          <a:prstGeom prst="trapezoid">
            <a:avLst>
              <a:gd name="adj" fmla="val 4429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21"/>
          <p:cNvSpPr txBox="1"/>
          <p:nvPr/>
        </p:nvSpPr>
        <p:spPr>
          <a:xfrm>
            <a:off x="440055" y="2376170"/>
            <a:ext cx="11447145" cy="1568450"/>
          </a:xfrm>
          <a:prstGeom prst="rect">
            <a:avLst/>
          </a:prstGeom>
          <a:noFill/>
        </p:spPr>
        <p:txBody>
          <a:bodyPr wrap="square" rtlCol="0">
            <a:spAutoFit/>
          </a:bodyPr>
          <a:lstStyle/>
          <a:p>
            <a:pPr algn="ctr"/>
            <a:r>
              <a:rPr lang="zh-CN" altLang="en-US" sz="4800" b="1" spc="300" dirty="0">
                <a:solidFill>
                  <a:schemeClr val="tx1">
                    <a:lumMod val="85000"/>
                    <a:lumOff val="15000"/>
                  </a:schemeClr>
                </a:solidFill>
                <a:latin typeface="微软雅黑" panose="020B0503020204020204" charset="-122"/>
                <a:ea typeface="微软雅黑" panose="020B0503020204020204" charset="-122"/>
              </a:rPr>
              <a:t>感谢各位老师的倾听与指导！</a:t>
            </a:r>
            <a:endParaRPr lang="zh-CN" altLang="en-US" sz="4800" b="1" spc="300" dirty="0">
              <a:solidFill>
                <a:schemeClr val="tx1">
                  <a:lumMod val="85000"/>
                  <a:lumOff val="15000"/>
                </a:schemeClr>
              </a:solidFill>
              <a:latin typeface="微软雅黑" panose="020B0503020204020204" charset="-122"/>
              <a:ea typeface="微软雅黑" panose="020B0503020204020204" charset="-122"/>
            </a:endParaRPr>
          </a:p>
          <a:p>
            <a:pPr algn="ctr"/>
            <a:r>
              <a:rPr lang="zh-CN" altLang="en-US" sz="4800" b="1" spc="300" dirty="0">
                <a:solidFill>
                  <a:schemeClr val="tx1">
                    <a:lumMod val="85000"/>
                    <a:lumOff val="15000"/>
                  </a:schemeClr>
                </a:solidFill>
                <a:latin typeface="微软雅黑" panose="020B0503020204020204" charset="-122"/>
                <a:ea typeface="微软雅黑" panose="020B0503020204020204" charset="-122"/>
              </a:rPr>
              <a:t>欢迎批评指正</a:t>
            </a:r>
            <a:endParaRPr lang="zh-CN" altLang="en-US" sz="4800" b="1" spc="300" dirty="0">
              <a:solidFill>
                <a:schemeClr val="tx1">
                  <a:lumMod val="85000"/>
                  <a:lumOff val="15000"/>
                </a:schemeClr>
              </a:solidFill>
              <a:latin typeface="微软雅黑" panose="020B0503020204020204" charset="-122"/>
              <a:ea typeface="微软雅黑" panose="020B0503020204020204" charset="-122"/>
            </a:endParaRPr>
          </a:p>
        </p:txBody>
      </p:sp>
      <p:sp>
        <p:nvSpPr>
          <p:cNvPr id="18" name="文本框 21"/>
          <p:cNvSpPr txBox="1"/>
          <p:nvPr/>
        </p:nvSpPr>
        <p:spPr>
          <a:xfrm>
            <a:off x="3069590" y="5701665"/>
            <a:ext cx="6045835" cy="321945"/>
          </a:xfrm>
          <a:prstGeom prst="rect">
            <a:avLst/>
          </a:prstGeom>
          <a:noFill/>
        </p:spPr>
        <p:txBody>
          <a:bodyPr wrap="square" rtlCol="0">
            <a:spAutoFit/>
          </a:bodyPr>
          <a:lstStyle/>
          <a:p>
            <a:r>
              <a:rPr lang="zh-CN" altLang="en-US" sz="1500" spc="3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rPr>
              <a:t>汇报人：王家特   指导老师：艾娜    日期：</a:t>
            </a:r>
            <a:r>
              <a:rPr lang="en-US" altLang="zh-CN" sz="1500" spc="3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rPr>
              <a:t>2026.6.2</a:t>
            </a:r>
            <a:endParaRPr lang="en-US" altLang="zh-CN" sz="1500" spc="300" dirty="0">
              <a:solidFill>
                <a:schemeClr val="tx1">
                  <a:lumMod val="85000"/>
                  <a:lumOff val="15000"/>
                </a:schemeClr>
              </a:solidFill>
              <a:latin typeface="微软雅黑" panose="020B0503020204020204" charset="-122"/>
              <a:ea typeface="微软雅黑" panose="020B0503020204020204" charset="-122"/>
              <a:cs typeface="OPPOSans B" panose="00020600040101010101" pitchFamily="18" charset="-122"/>
            </a:endParaRPr>
          </a:p>
        </p:txBody>
      </p:sp>
      <p:cxnSp>
        <p:nvCxnSpPr>
          <p:cNvPr id="19" name="直接连接符 18"/>
          <p:cNvCxnSpPr/>
          <p:nvPr/>
        </p:nvCxnSpPr>
        <p:spPr>
          <a:xfrm>
            <a:off x="1827900" y="4062756"/>
            <a:ext cx="8671871" cy="0"/>
          </a:xfrm>
          <a:prstGeom prst="line">
            <a:avLst/>
          </a:prstGeom>
          <a:ln w="12700">
            <a:solidFill>
              <a:srgbClr val="333E51"/>
            </a:solidFill>
          </a:ln>
        </p:spPr>
        <p:style>
          <a:lnRef idx="1">
            <a:schemeClr val="accent1"/>
          </a:lnRef>
          <a:fillRef idx="0">
            <a:schemeClr val="accent1"/>
          </a:fillRef>
          <a:effectRef idx="0">
            <a:schemeClr val="accent1"/>
          </a:effectRef>
          <a:fontRef idx="minor">
            <a:schemeClr val="tx1"/>
          </a:fontRef>
        </p:style>
      </p:cxnSp>
      <p:pic>
        <p:nvPicPr>
          <p:cNvPr id="4" name="图片 3" descr="西大校徽"/>
          <p:cNvPicPr>
            <a:picLocks noChangeAspect="1"/>
          </p:cNvPicPr>
          <p:nvPr/>
        </p:nvPicPr>
        <p:blipFill>
          <a:blip r:embed="rId1"/>
          <a:stretch>
            <a:fillRect/>
          </a:stretch>
        </p:blipFill>
        <p:spPr>
          <a:xfrm>
            <a:off x="-248920" y="185420"/>
            <a:ext cx="3736340" cy="1426845"/>
          </a:xfrm>
          <a:prstGeom prst="rect">
            <a:avLst/>
          </a:prstGeom>
        </p:spPr>
      </p:pic>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65.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66.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67.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68.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69.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0.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1.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2.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3.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4.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5.xml><?xml version="1.0" encoding="utf-8"?>
<p:tagLst xmlns:p="http://schemas.openxmlformats.org/presentationml/2006/main">
  <p:tag name="KSO_WM_DIAGRAM_VIRTUALLY_FRAME" val="{&quot;height&quot;:294.6077952755905,&quot;left&quot;:492.51637795275593,&quot;top&quot;:157.50330708661417,&quot;width&quot;:396.883622047244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91.xml><?xml version="1.0" encoding="utf-8"?>
<p:tagLst xmlns:p="http://schemas.openxmlformats.org/presentationml/2006/main">
  <p:tag name="KSO_WM_DIAGRAM_VIRTUALLY_FRAME" val="{&quot;height&quot;:160.67362204724412,&quot;left&quot;:56.84212598425197,&quot;top&quot;:189.67740157480313,&quot;width&quot;:847.7054330708661}"/>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1135</Words>
  <Application>WPS 演示</Application>
  <PresentationFormat>宽屏</PresentationFormat>
  <Paragraphs>116</Paragraphs>
  <Slides>12</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宋体</vt:lpstr>
      <vt:lpstr>Wingdings</vt:lpstr>
      <vt:lpstr>Wingdings</vt:lpstr>
      <vt:lpstr>OPPOSans B</vt:lpstr>
      <vt:lpstr>微软雅黑</vt:lpstr>
      <vt:lpstr>OPPOSans R</vt:lpstr>
      <vt:lpstr>Arial Unicode MS</vt:lpstr>
      <vt:lpstr>Calibri</vt:lpstr>
      <vt:lpstr>OPPOSans B</vt:lpstr>
      <vt:lpstr>OPPOSans R</vt:lpstr>
      <vt:lpstr>Segoe Print</vt:lpstr>
      <vt:lpstr>The best part</vt:lpstr>
      <vt:lpstr>Retro Cute</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王家特</cp:lastModifiedBy>
  <cp:revision>174</cp:revision>
  <dcterms:created xsi:type="dcterms:W3CDTF">2019-06-19T02:08:00Z</dcterms:created>
  <dcterms:modified xsi:type="dcterms:W3CDTF">2026-06-01T15:35:41Z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55605518FE2C4DC2BBD458ED41BC4EAC_11</vt:lpwstr>
  </property>
</Properties>
</file>